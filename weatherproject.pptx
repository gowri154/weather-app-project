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427" r:id="rId1"/>
  </p:sldMasterIdLst>
  <p:notesMasterIdLst>
    <p:notesMasterId r:id="rId14"/>
  </p:notesMasterIdLst>
  <p:sldIdLst>
    <p:sldId id="266" r:id="rId2"/>
    <p:sldId id="272" r:id="rId3"/>
    <p:sldId id="281" r:id="rId4"/>
    <p:sldId id="258" r:id="rId5"/>
    <p:sldId id="260" r:id="rId6"/>
    <p:sldId id="270" r:id="rId7"/>
    <p:sldId id="273" r:id="rId8"/>
    <p:sldId id="274" r:id="rId9"/>
    <p:sldId id="279" r:id="rId10"/>
    <p:sldId id="280" r:id="rId11"/>
    <p:sldId id="262" r:id="rId12"/>
    <p:sldId id="277" r:id="rId13"/>
  </p:sldIdLst>
  <p:sldSz cx="9144000" cy="5143500" type="screen16x9"/>
  <p:notesSz cx="6858000" cy="9144000"/>
  <p:embeddedFontLst>
    <p:embeddedFont>
      <p:font typeface="Constantia" pitchFamily="18" charset="0"/>
      <p:regular r:id="rId15"/>
      <p:bold r:id="rId16"/>
      <p:italic r:id="rId17"/>
      <p:boldItalic r:id="rId18"/>
    </p:embeddedFont>
    <p:embeddedFont>
      <p:font typeface="Wingdings 2"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Default Section" id="{451D1E88-1102-441A-8A6C-898A1FCEEA85}">
          <p14:sldIdLst>
            <p14:sldId id="266"/>
            <p14:sldId id="257"/>
            <p14:sldId id="258"/>
            <p14:sldId id="267"/>
            <p14:sldId id="268"/>
            <p14:sldId id="260"/>
            <p14:sldId id="270"/>
            <p14:sldId id="262"/>
            <p14:sldId id="269"/>
          </p14:sldIdLst>
        </p14:section>
      </p14:sectionLst>
    </p:ext>
    <p:ext uri="{EFAFB233-063F-42B5-8137-9DF3F51BA10A}">
      <p15:sldGuideLst xmlns=""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161B60-E2A2-406B-82C8-A62D7111CAEC}" v="53" dt="2024-07-07T13:15:12.777"/>
  </p1510:revLst>
</p1510:revInfo>
</file>

<file path=ppt/tableStyles.xml><?xml version="1.0" encoding="utf-8"?>
<a:tblStyleLst xmlns:a="http://schemas.openxmlformats.org/drawingml/2006/main" def="{1EF2A259-E01F-45C0-9C48-C7958E619310}">
  <a:tblStyle styleId="{1EF2A259-E01F-45C0-9C48-C7958E6193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34587" autoAdjust="0"/>
    <p:restoredTop sz="94608" autoAdjust="0"/>
  </p:normalViewPr>
  <p:slideViewPr>
    <p:cSldViewPr snapToGrid="0">
      <p:cViewPr>
        <p:scale>
          <a:sx n="100" d="100"/>
          <a:sy n="100" d="100"/>
        </p:scale>
        <p:origin x="-802" y="-235"/>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e90d24070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e90d24070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91de7a10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91de7a10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92e7fa4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92e7fa4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2008863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91de7a10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91de7a10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2774853"/>
            <a:ext cx="8305800" cy="85725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075299"/>
            <a:ext cx="8305800" cy="14859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2662595"/>
            <a:ext cx="2971800" cy="1191"/>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2662595"/>
            <a:ext cx="2971800" cy="1191"/>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2644727"/>
            <a:ext cx="45720" cy="3429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81796F29-B607-4D2F-BF97-591A17F6400E}" type="datetime1">
              <a:rPr lang="en-US" smtClean="0"/>
              <a:pPr/>
              <a:t>2/10/2026</a:t>
            </a:fld>
            <a:endParaRPr lang="en-US" dirty="0"/>
          </a:p>
        </p:txBody>
      </p:sp>
      <p:sp>
        <p:nvSpPr>
          <p:cNvPr id="16" name="Slide Number Placeholder 15"/>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17" name="Footer Placeholder 16"/>
          <p:cNvSpPr>
            <a:spLocks noGrp="1"/>
          </p:cNvSpPr>
          <p:nvPr>
            <p:ph type="ftr" sz="quarter" idx="12"/>
          </p:nvPr>
        </p:nvSpPr>
        <p:spPr/>
        <p:txBody>
          <a:bodyPr/>
          <a:lstStyle/>
          <a:p>
            <a:r>
              <a:rPr lang="en-US" smtClean="0"/>
              <a:t>Zeroth Review</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143000"/>
            <a:ext cx="8229600" cy="3429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10A95BB5-D46E-4F26-B09B-006B2F1A3933}" type="datetime1">
              <a:rPr lang="en-US" smtClean="0"/>
              <a:pPr/>
              <a:t>2/10/2026</a:t>
            </a:fld>
            <a:endParaRPr lang="en-US" dirty="0"/>
          </a:p>
        </p:txBody>
      </p:sp>
      <p:sp>
        <p:nvSpPr>
          <p:cNvPr id="15" name="Slide Number Placeholder 14"/>
          <p:cNvSpPr>
            <a:spLocks noGrp="1"/>
          </p:cNvSpPr>
          <p:nvPr>
            <p:ph type="sldNum" sz="quarter" idx="15"/>
          </p:nvPr>
        </p:nvSpPr>
        <p:spPr/>
        <p:txBody>
          <a:bodyPr/>
          <a:lstStyle>
            <a:lvl1pPr algn="ctr">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16" name="Footer Placeholder 15"/>
          <p:cNvSpPr>
            <a:spLocks noGrp="1"/>
          </p:cNvSpPr>
          <p:nvPr>
            <p:ph type="ftr" sz="quarter" idx="16"/>
          </p:nvPr>
        </p:nvSpPr>
        <p:spPr/>
        <p:txBody>
          <a:bodyPr/>
          <a:lstStyle/>
          <a:p>
            <a:r>
              <a:rPr lang="en-US" smtClean="0"/>
              <a:t>Zeroth Review</a:t>
            </a:r>
            <a:endParaRPr lang="en-US" dirty="0"/>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10C9C45-34CD-48E9-81F8-29BCD5C0FF01}" type="datetime1">
              <a:rPr lang="en-US" smtClean="0"/>
              <a:pPr/>
              <a:t>2/10/2026</a:t>
            </a:fld>
            <a:endParaRPr lang="en-US" dirty="0"/>
          </a:p>
        </p:txBody>
      </p:sp>
      <p:sp>
        <p:nvSpPr>
          <p:cNvPr id="5" name="Footer Placeholder 4"/>
          <p:cNvSpPr>
            <a:spLocks noGrp="1"/>
          </p:cNvSpPr>
          <p:nvPr>
            <p:ph type="ftr" sz="quarter" idx="11"/>
          </p:nvPr>
        </p:nvSpPr>
        <p:spPr/>
        <p:txBody>
          <a:bodyPr/>
          <a:lstStyle/>
          <a:p>
            <a:r>
              <a:rPr lang="en-US" smtClean="0"/>
              <a:t>Zeroth Review</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2" name="Title 1"/>
          <p:cNvSpPr>
            <a:spLocks noGrp="1"/>
          </p:cNvSpPr>
          <p:nvPr>
            <p:ph type="title"/>
          </p:nvPr>
        </p:nvSpPr>
        <p:spPr>
          <a:xfrm>
            <a:off x="685800" y="2628900"/>
            <a:ext cx="7924800" cy="10287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3719148"/>
            <a:ext cx="7924800" cy="738552"/>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3687744"/>
            <a:ext cx="7924800" cy="3226"/>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0CF0AD1-36CC-4B79-BE54-CA6FB0A92142}" type="datetime1">
              <a:rPr lang="en-US" smtClean="0"/>
              <a:pPr/>
              <a:t>2/10/2026</a:t>
            </a:fld>
            <a:endParaRPr lang="en-US" dirty="0"/>
          </a:p>
        </p:txBody>
      </p:sp>
      <p:sp>
        <p:nvSpPr>
          <p:cNvPr id="6" name="Footer Placeholder 5"/>
          <p:cNvSpPr>
            <a:spLocks noGrp="1"/>
          </p:cNvSpPr>
          <p:nvPr>
            <p:ph type="ftr" sz="quarter" idx="11"/>
          </p:nvPr>
        </p:nvSpPr>
        <p:spPr/>
        <p:txBody>
          <a:bodyPr/>
          <a:lstStyle/>
          <a:p>
            <a:r>
              <a:rPr lang="en-US" smtClean="0"/>
              <a:t>Zeroth Review</a:t>
            </a:r>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143000"/>
            <a:ext cx="4059936" cy="3429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143000"/>
            <a:ext cx="4059936" cy="3429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8" name="Footer Placeholder 7"/>
          <p:cNvSpPr>
            <a:spLocks noGrp="1"/>
          </p:cNvSpPr>
          <p:nvPr>
            <p:ph type="ftr" sz="quarter" idx="11"/>
          </p:nvPr>
        </p:nvSpPr>
        <p:spPr/>
        <p:txBody>
          <a:bodyPr/>
          <a:lstStyle/>
          <a:p>
            <a:r>
              <a:rPr lang="en-US" smtClean="0"/>
              <a:t>Zeroth Review</a:t>
            </a:r>
            <a:endParaRPr lang="en-US" dirty="0"/>
          </a:p>
        </p:txBody>
      </p:sp>
      <p:sp>
        <p:nvSpPr>
          <p:cNvPr id="7" name="Date Placeholder 6"/>
          <p:cNvSpPr>
            <a:spLocks noGrp="1"/>
          </p:cNvSpPr>
          <p:nvPr>
            <p:ph type="dt" sz="half" idx="10"/>
          </p:nvPr>
        </p:nvSpPr>
        <p:spPr/>
        <p:txBody>
          <a:bodyPr/>
          <a:lstStyle/>
          <a:p>
            <a:fld id="{6C5C6DFB-962A-4532-AAAD-A950648AA164}" type="datetime1">
              <a:rPr lang="en-US" smtClean="0"/>
              <a:pPr/>
              <a:t>2/10/2026</a:t>
            </a:fld>
            <a:endParaRPr lang="en-US" dirty="0"/>
          </a:p>
        </p:txBody>
      </p:sp>
      <p:sp>
        <p:nvSpPr>
          <p:cNvPr id="3" name="Text Placeholder 2"/>
          <p:cNvSpPr>
            <a:spLocks noGrp="1"/>
          </p:cNvSpPr>
          <p:nvPr>
            <p:ph type="body" idx="1"/>
          </p:nvPr>
        </p:nvSpPr>
        <p:spPr>
          <a:xfrm>
            <a:off x="457200" y="1049695"/>
            <a:ext cx="4040188" cy="5715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1651422"/>
            <a:ext cx="4038600" cy="293522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1651422"/>
            <a:ext cx="4038600" cy="293522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16586"/>
            <a:ext cx="8229600" cy="85725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049695"/>
            <a:ext cx="4040188" cy="5715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1635164"/>
            <a:ext cx="3749040" cy="1191"/>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1635164"/>
            <a:ext cx="3749040" cy="1191"/>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FA7FA3F-0A16-4B85-976D-63AF9CAC376C}" type="datetime1">
              <a:rPr lang="en-US" smtClean="0"/>
              <a:pPr/>
              <a:t>2/10/2026</a:t>
            </a:fld>
            <a:endParaRPr lang="en-US" dirty="0"/>
          </a:p>
        </p:txBody>
      </p:sp>
      <p:sp>
        <p:nvSpPr>
          <p:cNvPr id="4" name="Footer Placeholder 3"/>
          <p:cNvSpPr>
            <a:spLocks noGrp="1"/>
          </p:cNvSpPr>
          <p:nvPr>
            <p:ph type="ftr" sz="quarter" idx="11"/>
          </p:nvPr>
        </p:nvSpPr>
        <p:spPr/>
        <p:txBody>
          <a:bodyPr/>
          <a:lstStyle/>
          <a:p>
            <a:r>
              <a:rPr lang="en-US" smtClean="0"/>
              <a:t>Zeroth Review</a:t>
            </a:r>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DD82AF-3EDC-4AAB-9BD5-3CB0819825BB}" type="datetime1">
              <a:rPr lang="en-US" smtClean="0"/>
              <a:pPr/>
              <a:t>2/10/2026</a:t>
            </a:fld>
            <a:endParaRPr lang="en-US" dirty="0"/>
          </a:p>
        </p:txBody>
      </p:sp>
      <p:sp>
        <p:nvSpPr>
          <p:cNvPr id="3" name="Footer Placeholder 2"/>
          <p:cNvSpPr>
            <a:spLocks noGrp="1"/>
          </p:cNvSpPr>
          <p:nvPr>
            <p:ph type="ftr" sz="quarter" idx="11"/>
          </p:nvPr>
        </p:nvSpPr>
        <p:spPr/>
        <p:txBody>
          <a:bodyPr/>
          <a:lstStyle/>
          <a:p>
            <a:r>
              <a:rPr lang="en-US" smtClean="0"/>
              <a:t>Zeroth Review</a:t>
            </a:r>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342900"/>
            <a:ext cx="6248400" cy="428625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200150"/>
            <a:ext cx="1984248" cy="280035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342900"/>
            <a:ext cx="1981200" cy="8001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CB5E6C13-BDA9-45FD-9114-205001B395C3}" type="datetime1">
              <a:rPr lang="en-US" smtClean="0"/>
              <a:pPr/>
              <a:t>2/10/2026</a:t>
            </a:fld>
            <a:endParaRPr lang="en-US" dirty="0"/>
          </a:p>
        </p:txBody>
      </p:sp>
      <p:sp>
        <p:nvSpPr>
          <p:cNvPr id="9" name="Slide Number Placeholder 8"/>
          <p:cNvSpPr>
            <a:spLocks noGrp="1"/>
          </p:cNvSpPr>
          <p:nvPr>
            <p:ph type="sldNum" sz="quarter" idx="15"/>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10" name="Footer Placeholder 9"/>
          <p:cNvSpPr>
            <a:spLocks noGrp="1"/>
          </p:cNvSpPr>
          <p:nvPr>
            <p:ph type="ftr" sz="quarter" idx="16"/>
          </p:nvPr>
        </p:nvSpPr>
        <p:spPr/>
        <p:txBody>
          <a:bodyPr/>
          <a:lstStyle/>
          <a:p>
            <a:r>
              <a:rPr lang="en-US" smtClean="0"/>
              <a:t>Zeroth Review</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342900"/>
            <a:ext cx="2057400" cy="8001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342900"/>
            <a:ext cx="6019800" cy="417195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200150"/>
            <a:ext cx="2057400" cy="33147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39103BF7-C7FA-4FCF-BC9A-94218C70D7A8}" type="datetime1">
              <a:rPr lang="en-US" smtClean="0"/>
              <a:pPr/>
              <a:t>2/10/2026</a:t>
            </a:fld>
            <a:endParaRPr lang="en-US" dirty="0"/>
          </a:p>
        </p:txBody>
      </p:sp>
      <p:sp>
        <p:nvSpPr>
          <p:cNvPr id="9" name="Slide Number Placeholder 8"/>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10" name="Footer Placeholder 9"/>
          <p:cNvSpPr>
            <a:spLocks noGrp="1"/>
          </p:cNvSpPr>
          <p:nvPr>
            <p:ph type="ftr" sz="quarter" idx="12"/>
          </p:nvPr>
        </p:nvSpPr>
        <p:spPr/>
        <p:txBody>
          <a:bodyPr/>
          <a:lstStyle/>
          <a:p>
            <a:r>
              <a:rPr lang="en-US" smtClean="0"/>
              <a:t>Zeroth Review</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F949830-B701-45C2-B85A-1B405B6BAF81}" type="datetime1">
              <a:rPr lang="en-US" smtClean="0"/>
              <a:pPr/>
              <a:t>2/10/2026</a:t>
            </a:fld>
            <a:endParaRPr lang="en-US" dirty="0"/>
          </a:p>
        </p:txBody>
      </p:sp>
      <p:sp>
        <p:nvSpPr>
          <p:cNvPr id="5" name="Footer Placeholder 4"/>
          <p:cNvSpPr>
            <a:spLocks noGrp="1"/>
          </p:cNvSpPr>
          <p:nvPr>
            <p:ph type="ftr" sz="quarter" idx="11"/>
          </p:nvPr>
        </p:nvSpPr>
        <p:spPr/>
        <p:txBody>
          <a:bodyPr/>
          <a:lstStyle/>
          <a:p>
            <a:r>
              <a:rPr lang="en-US" smtClean="0"/>
              <a:t>Zeroth Review</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E23F3D-2908-4096-94B0-0419923213BB}" type="datetime1">
              <a:rPr lang="en-US" smtClean="0"/>
              <a:pPr/>
              <a:t>2/10/2026</a:t>
            </a:fld>
            <a:endParaRPr lang="en-US" dirty="0"/>
          </a:p>
        </p:txBody>
      </p:sp>
      <p:sp>
        <p:nvSpPr>
          <p:cNvPr id="5" name="Footer Placeholder 4"/>
          <p:cNvSpPr>
            <a:spLocks noGrp="1"/>
          </p:cNvSpPr>
          <p:nvPr>
            <p:ph type="ftr" sz="quarter" idx="11"/>
          </p:nvPr>
        </p:nvSpPr>
        <p:spPr/>
        <p:txBody>
          <a:bodyPr/>
          <a:lstStyle/>
          <a:p>
            <a:r>
              <a:rPr lang="en-US" smtClean="0"/>
              <a:t>Zeroth Review</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085850"/>
            <a:ext cx="8229600" cy="350877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4652750"/>
            <a:ext cx="2590800" cy="288036"/>
          </a:xfrm>
          <a:prstGeom prst="rect">
            <a:avLst/>
          </a:prstGeom>
        </p:spPr>
        <p:txBody>
          <a:bodyPr vert="horz" anchor="ctr" anchorCtr="0"/>
          <a:lstStyle>
            <a:lvl1pPr algn="l" eaLnBrk="1" latinLnBrk="0" hangingPunct="1">
              <a:defRPr kumimoji="0" sz="1200">
                <a:solidFill>
                  <a:schemeClr val="tx2"/>
                </a:solidFill>
              </a:defRPr>
            </a:lvl1pPr>
          </a:lstStyle>
          <a:p>
            <a:fld id="{AD698205-1525-45EE-9BAD-93096E45C850}" type="datetime1">
              <a:rPr lang="en-US" smtClean="0"/>
              <a:pPr/>
              <a:t>2/10/2026</a:t>
            </a:fld>
            <a:endParaRPr lang="en-US" dirty="0"/>
          </a:p>
        </p:txBody>
      </p:sp>
      <p:sp>
        <p:nvSpPr>
          <p:cNvPr id="10" name="Footer Placeholder 9"/>
          <p:cNvSpPr>
            <a:spLocks noGrp="1"/>
          </p:cNvSpPr>
          <p:nvPr>
            <p:ph type="ftr" sz="quarter" idx="3"/>
          </p:nvPr>
        </p:nvSpPr>
        <p:spPr>
          <a:xfrm>
            <a:off x="2133600" y="4652750"/>
            <a:ext cx="3581400" cy="288036"/>
          </a:xfrm>
          <a:prstGeom prst="rect">
            <a:avLst/>
          </a:prstGeom>
        </p:spPr>
        <p:txBody>
          <a:bodyPr vert="horz" anchor="ctr" anchorCtr="0"/>
          <a:lstStyle>
            <a:lvl1pPr algn="r" eaLnBrk="1" latinLnBrk="0" hangingPunct="1">
              <a:defRPr kumimoji="0" sz="1200">
                <a:solidFill>
                  <a:schemeClr val="tx2"/>
                </a:solidFill>
              </a:defRPr>
            </a:lvl1pPr>
          </a:lstStyle>
          <a:p>
            <a:r>
              <a:rPr lang="en-US" smtClean="0"/>
              <a:t>Zeroth Review</a:t>
            </a:r>
            <a:endParaRPr lang="en-US" dirty="0"/>
          </a:p>
        </p:txBody>
      </p:sp>
      <p:sp>
        <p:nvSpPr>
          <p:cNvPr id="22" name="Slide Number Placeholder 21"/>
          <p:cNvSpPr>
            <a:spLocks noGrp="1"/>
          </p:cNvSpPr>
          <p:nvPr>
            <p:ph type="sldNum" sz="quarter" idx="4"/>
          </p:nvPr>
        </p:nvSpPr>
        <p:spPr>
          <a:xfrm>
            <a:off x="8410575" y="4636148"/>
            <a:ext cx="609600" cy="3429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5" name="Title Placeholder 4"/>
          <p:cNvSpPr>
            <a:spLocks noGrp="1"/>
          </p:cNvSpPr>
          <p:nvPr>
            <p:ph type="title"/>
          </p:nvPr>
        </p:nvSpPr>
        <p:spPr>
          <a:xfrm>
            <a:off x="457200" y="114300"/>
            <a:ext cx="8229600" cy="9144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4428" r:id="rId1"/>
    <p:sldLayoutId id="2147484429" r:id="rId2"/>
    <p:sldLayoutId id="2147484430" r:id="rId3"/>
    <p:sldLayoutId id="2147484431" r:id="rId4"/>
    <p:sldLayoutId id="2147484432" r:id="rId5"/>
    <p:sldLayoutId id="2147484433" r:id="rId6"/>
    <p:sldLayoutId id="2147484434" r:id="rId7"/>
    <p:sldLayoutId id="2147484435" r:id="rId8"/>
    <p:sldLayoutId id="2147484436" r:id="rId9"/>
    <p:sldLayoutId id="2147484437" r:id="rId10"/>
    <p:sldLayoutId id="2147484438" r:id="rId11"/>
  </p:sldLayoutIdLst>
  <p:hf hdr="0"/>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2;p13">
            <a:extLst>
              <a:ext uri="{FF2B5EF4-FFF2-40B4-BE49-F238E27FC236}">
                <a16:creationId xmlns="" xmlns:a16="http://schemas.microsoft.com/office/drawing/2014/main" id="{7A047EF1-4DA5-1536-5754-AE846060E092}"/>
              </a:ext>
            </a:extLst>
          </p:cNvPr>
          <p:cNvSpPr txBox="1">
            <a:spLocks/>
          </p:cNvSpPr>
          <p:nvPr/>
        </p:nvSpPr>
        <p:spPr>
          <a:xfrm>
            <a:off x="251460" y="1244902"/>
            <a:ext cx="8735291" cy="1254458"/>
          </a:xfrm>
          <a:prstGeom prst="rect">
            <a:avLst/>
          </a:prstGeom>
        </p:spPr>
        <p:txBody>
          <a:bodyPr spcFirstLastPara="1" wrap="square" lIns="91425" tIns="91425" rIns="91425" bIns="91425" anchor="t" anchorCtr="0">
            <a:no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marL="271463" indent="-271463" algn="ctr">
              <a:spcBef>
                <a:spcPts val="0"/>
              </a:spcBef>
            </a:pPr>
            <a:r>
              <a:rPr lang="en-IN" sz="3200" b="1" dirty="0" smtClean="0">
                <a:solidFill>
                  <a:schemeClr val="tx1"/>
                </a:solidFill>
                <a:latin typeface="Times New Roman" pitchFamily="18" charset="0"/>
                <a:cs typeface="Times New Roman" pitchFamily="18" charset="0"/>
              </a:rPr>
              <a:t>PROJECT TITLE</a:t>
            </a:r>
          </a:p>
          <a:p>
            <a:pPr marL="271463" indent="-271463" algn="ctr">
              <a:spcBef>
                <a:spcPts val="0"/>
              </a:spcBef>
            </a:pPr>
            <a:r>
              <a:rPr lang="en-IN" sz="3200" b="1" dirty="0" smtClean="0">
                <a:solidFill>
                  <a:schemeClr val="tx1"/>
                </a:solidFill>
                <a:latin typeface="Times New Roman" pitchFamily="18" charset="0"/>
                <a:cs typeface="Times New Roman" pitchFamily="18" charset="0"/>
              </a:rPr>
              <a:t>WHEATHER APP</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Google Shape;74;p13">
            <a:extLst>
              <a:ext uri="{FF2B5EF4-FFF2-40B4-BE49-F238E27FC236}">
                <a16:creationId xmlns="" xmlns:a16="http://schemas.microsoft.com/office/drawing/2014/main" id="{3DB217FF-6B80-7C7D-C8C7-46FFCE194446}"/>
              </a:ext>
            </a:extLst>
          </p:cNvPr>
          <p:cNvSpPr txBox="1">
            <a:spLocks/>
          </p:cNvSpPr>
          <p:nvPr/>
        </p:nvSpPr>
        <p:spPr>
          <a:xfrm>
            <a:off x="0" y="69742"/>
            <a:ext cx="9144000" cy="1047568"/>
          </a:xfrm>
          <a:prstGeom prst="rect">
            <a:avLst/>
          </a:prstGeom>
        </p:spPr>
        <p:txBody>
          <a:bodyPr spcFirstLastPara="1" vert="horz" wrap="square" lIns="91425" tIns="91425" rIns="91425" bIns="91425" rtlCol="0" anchor="t" anchorCtr="0">
            <a:no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marR="619760" algn="ctr">
              <a:lnSpc>
                <a:spcPct val="107000"/>
              </a:lnSpc>
              <a:spcAft>
                <a:spcPts val="1270"/>
              </a:spcAft>
            </a:pPr>
            <a:r>
              <a:rPr lang="en-US" sz="2500" dirty="0">
                <a:latin typeface="Times New Roman" panose="02020603050405020304" pitchFamily="18" charset="0"/>
                <a:cs typeface="Times New Roman" panose="02020603050405020304" pitchFamily="18" charset="0"/>
              </a:rPr>
              <a:t>         </a:t>
            </a:r>
          </a:p>
        </p:txBody>
      </p:sp>
      <p:sp>
        <p:nvSpPr>
          <p:cNvPr id="6" name="Google Shape;73;p13">
            <a:extLst>
              <a:ext uri="{FF2B5EF4-FFF2-40B4-BE49-F238E27FC236}">
                <a16:creationId xmlns="" xmlns:a16="http://schemas.microsoft.com/office/drawing/2014/main" id="{C16D2A13-7CBC-7DC8-B486-4FCE96D508E4}"/>
              </a:ext>
            </a:extLst>
          </p:cNvPr>
          <p:cNvSpPr txBox="1"/>
          <p:nvPr/>
        </p:nvSpPr>
        <p:spPr>
          <a:xfrm>
            <a:off x="498764" y="3277981"/>
            <a:ext cx="8442776" cy="1328655"/>
          </a:xfrm>
          <a:prstGeom prst="rect">
            <a:avLst/>
          </a:prstGeom>
          <a:noFill/>
          <a:ln>
            <a:noFill/>
          </a:ln>
        </p:spPr>
        <p:txBody>
          <a:bodyPr spcFirstLastPara="1" wrap="square" lIns="91425" tIns="91425" rIns="91425" bIns="91425" anchor="t" anchorCtr="0">
            <a:noAutofit/>
          </a:bodyPr>
          <a:lstStyle/>
          <a:p>
            <a:pPr lvl="7"/>
            <a:endParaRPr lang="en" sz="1400" dirty="0" smtClean="0">
              <a:latin typeface="Times New Roman" pitchFamily="18" charset="0"/>
              <a:ea typeface="Raleway Medium"/>
              <a:cs typeface="Times New Roman" pitchFamily="18" charset="0"/>
              <a:sym typeface="Raleway Medium"/>
            </a:endParaRPr>
          </a:p>
        </p:txBody>
      </p:sp>
      <p:sp>
        <p:nvSpPr>
          <p:cNvPr id="10" name="TextBox 9"/>
          <p:cNvSpPr txBox="1"/>
          <p:nvPr/>
        </p:nvSpPr>
        <p:spPr>
          <a:xfrm>
            <a:off x="2549237" y="2893522"/>
            <a:ext cx="4619431" cy="923330"/>
          </a:xfrm>
          <a:prstGeom prst="rect">
            <a:avLst/>
          </a:prstGeom>
          <a:noFill/>
        </p:spPr>
        <p:txBody>
          <a:bodyPr wrap="square" rtlCol="0">
            <a:spAutoFit/>
          </a:bodyPr>
          <a:lstStyle/>
          <a:p>
            <a:r>
              <a:rPr lang="en-US" dirty="0" smtClean="0">
                <a:latin typeface="Times New Roman" pitchFamily="18" charset="0"/>
                <a:cs typeface="Times New Roman" pitchFamily="18" charset="0"/>
              </a:rPr>
              <a:t>BY</a:t>
            </a:r>
          </a:p>
          <a:p>
            <a:r>
              <a:rPr lang="en-US" dirty="0" smtClean="0">
                <a:latin typeface="Times New Roman" pitchFamily="18" charset="0"/>
                <a:cs typeface="Times New Roman" pitchFamily="18" charset="0"/>
              </a:rPr>
              <a:t>Name:  </a:t>
            </a:r>
            <a:r>
              <a:rPr lang="en-US" dirty="0" err="1" smtClean="0">
                <a:latin typeface="Times New Roman" pitchFamily="18" charset="0"/>
                <a:cs typeface="Times New Roman" pitchFamily="18" charset="0"/>
              </a:rPr>
              <a:t>Gowri</a:t>
            </a:r>
            <a:r>
              <a:rPr lang="en-US" dirty="0" smtClean="0">
                <a:latin typeface="Times New Roman" pitchFamily="18" charset="0"/>
                <a:cs typeface="Times New Roman" pitchFamily="18" charset="0"/>
              </a:rPr>
              <a:t> R</a:t>
            </a:r>
          </a:p>
          <a:p>
            <a:r>
              <a:rPr lang="en-US" dirty="0" smtClean="0">
                <a:latin typeface="Times New Roman" pitchFamily="18" charset="0"/>
                <a:cs typeface="Times New Roman" pitchFamily="18" charset="0"/>
              </a:rPr>
              <a:t>UNID:  UMID02122572656 </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7269353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
        <p:nvSpPr>
          <p:cNvPr id="5" name="Rectangle 4"/>
          <p:cNvSpPr/>
          <p:nvPr/>
        </p:nvSpPr>
        <p:spPr>
          <a:xfrm>
            <a:off x="678873" y="491837"/>
            <a:ext cx="4800600" cy="584775"/>
          </a:xfrm>
          <a:prstGeom prst="rect">
            <a:avLst/>
          </a:prstGeom>
        </p:spPr>
        <p:txBody>
          <a:bodyPr wrap="square">
            <a:spAutoFit/>
          </a:bodyPr>
          <a:lstStyle/>
          <a:p>
            <a:r>
              <a:rPr lang="en-IN" sz="3200" dirty="0" smtClean="0">
                <a:latin typeface="Times New Roman" pitchFamily="18" charset="0"/>
                <a:cs typeface="Times New Roman" pitchFamily="18" charset="0"/>
              </a:rPr>
              <a:t>Contents Outline</a:t>
            </a:r>
            <a:endParaRPr lang="en-US" sz="3200" dirty="0"/>
          </a:p>
        </p:txBody>
      </p:sp>
      <p:sp>
        <p:nvSpPr>
          <p:cNvPr id="6" name="Rectangle 5"/>
          <p:cNvSpPr/>
          <p:nvPr/>
        </p:nvSpPr>
        <p:spPr>
          <a:xfrm>
            <a:off x="879762" y="1087582"/>
            <a:ext cx="3872345" cy="3416320"/>
          </a:xfrm>
          <a:prstGeom prst="rect">
            <a:avLst/>
          </a:prstGeom>
        </p:spPr>
        <p:txBody>
          <a:bodyPr wrap="square">
            <a:spAutoFit/>
          </a:bodyPr>
          <a:lstStyle/>
          <a:p>
            <a:pPr>
              <a:lnSpc>
                <a:spcPct val="150000"/>
              </a:lnSpc>
              <a:buFont typeface="Arial" pitchFamily="34" charset="0"/>
              <a:buChar char="•"/>
            </a:pPr>
            <a:r>
              <a:rPr lang="en-IN" dirty="0" smtClean="0">
                <a:latin typeface="Times New Roman" pitchFamily="18" charset="0"/>
                <a:cs typeface="Times New Roman" pitchFamily="18" charset="0"/>
              </a:rPr>
              <a:t> Abstract</a:t>
            </a:r>
          </a:p>
          <a:p>
            <a:pPr>
              <a:lnSpc>
                <a:spcPct val="150000"/>
              </a:lnSpc>
              <a:buFont typeface="Arial" pitchFamily="34" charset="0"/>
              <a:buChar char="•"/>
            </a:pPr>
            <a:r>
              <a:rPr lang="en-IN" dirty="0" smtClean="0">
                <a:latin typeface="Times New Roman" pitchFamily="18" charset="0"/>
                <a:cs typeface="Times New Roman" pitchFamily="18" charset="0"/>
              </a:rPr>
              <a:t> Introduction </a:t>
            </a:r>
          </a:p>
          <a:p>
            <a:pPr>
              <a:lnSpc>
                <a:spcPct val="150000"/>
              </a:lnSpc>
              <a:buFont typeface="Arial" pitchFamily="34" charset="0"/>
              <a:buChar char="•"/>
            </a:pPr>
            <a:r>
              <a:rPr lang="en-IN" dirty="0" smtClean="0">
                <a:latin typeface="Times New Roman" pitchFamily="18" charset="0"/>
                <a:cs typeface="Times New Roman" pitchFamily="18" charset="0"/>
              </a:rPr>
              <a:t> Proposed Methodology</a:t>
            </a:r>
          </a:p>
          <a:p>
            <a:pPr>
              <a:lnSpc>
                <a:spcPct val="150000"/>
              </a:lnSpc>
              <a:buFont typeface="Arial" pitchFamily="34" charset="0"/>
              <a:buChar char="•"/>
            </a:pPr>
            <a:r>
              <a:rPr lang="en-IN" dirty="0" smtClean="0">
                <a:latin typeface="Times New Roman" pitchFamily="18" charset="0"/>
                <a:cs typeface="Times New Roman" pitchFamily="18" charset="0"/>
              </a:rPr>
              <a:t> Flow Diagram</a:t>
            </a:r>
          </a:p>
          <a:p>
            <a:pPr>
              <a:lnSpc>
                <a:spcPct val="150000"/>
              </a:lnSpc>
              <a:buFont typeface="Arial" pitchFamily="34" charset="0"/>
              <a:buChar char="•"/>
            </a:pPr>
            <a:r>
              <a:rPr lang="en-IN" dirty="0" smtClean="0">
                <a:latin typeface="Times New Roman" pitchFamily="18" charset="0"/>
                <a:cs typeface="Times New Roman" pitchFamily="18" charset="0"/>
              </a:rPr>
              <a:t> Software Tools Used</a:t>
            </a:r>
          </a:p>
          <a:p>
            <a:pPr>
              <a:lnSpc>
                <a:spcPct val="150000"/>
              </a:lnSpc>
              <a:buFont typeface="Arial" pitchFamily="34" charset="0"/>
              <a:buChar char="•"/>
            </a:pPr>
            <a:r>
              <a:rPr lang="en-IN" dirty="0" smtClean="0">
                <a:latin typeface="Times New Roman" pitchFamily="18" charset="0"/>
                <a:cs typeface="Times New Roman" pitchFamily="18" charset="0"/>
              </a:rPr>
              <a:t> Expected Output</a:t>
            </a:r>
          </a:p>
          <a:p>
            <a:pPr>
              <a:lnSpc>
                <a:spcPct val="150000"/>
              </a:lnSpc>
              <a:buFont typeface="Arial" pitchFamily="34" charset="0"/>
              <a:buChar char="•"/>
            </a:pPr>
            <a:r>
              <a:rPr lang="en-IN" dirty="0" smtClean="0">
                <a:latin typeface="Times New Roman" pitchFamily="18" charset="0"/>
                <a:cs typeface="Times New Roman" pitchFamily="18" charset="0"/>
              </a:rPr>
              <a:t> Conclusion</a:t>
            </a:r>
          </a:p>
          <a:p>
            <a:pPr>
              <a:lnSpc>
                <a:spcPct val="150000"/>
              </a:lnSpc>
            </a:pPr>
            <a:endParaRPr lang="en-IN"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5236"/>
            <a:ext cx="8229600" cy="3706784"/>
          </a:xfrm>
        </p:spPr>
        <p:txBody>
          <a:bodyPr>
            <a:noAutofit/>
          </a:bodyPr>
          <a:lstStyle/>
          <a:p>
            <a:pPr algn="just">
              <a:lnSpc>
                <a:spcPct val="150000"/>
              </a:lnSpc>
              <a:buNone/>
            </a:pPr>
            <a:r>
              <a:rPr lang="en-US" sz="1200" dirty="0" smtClean="0">
                <a:latin typeface="Times New Roman" pitchFamily="18" charset="0"/>
                <a:cs typeface="Times New Roman" pitchFamily="18" charset="0"/>
              </a:rPr>
              <a:t>      This </a:t>
            </a:r>
            <a:r>
              <a:rPr lang="en-US" sz="1200" dirty="0" smtClean="0">
                <a:latin typeface="Times New Roman" pitchFamily="18" charset="0"/>
                <a:cs typeface="Times New Roman" pitchFamily="18" charset="0"/>
              </a:rPr>
              <a:t>project focuses on the development of a web-based Weather Application that provides real-time weather information for user-specified locations. The application allows users to enter the name of a city or place and retrieve current weather conditions instantly. It fetches live data from a public weather API, ensuring accuracy and reliability of information. The system displays essential weather details such as temperature in Celsius, weather description, and a visual weather icon. HTML is used to structure the application interface, while CSS enhances visual appeal and responsiveness across devices. JavaScript handles user interactions, API communication, and dynamic content updates. The application follows an asynchronous programming approach to ensure smooth data fetching without page reloads. Error handling mechanisms are implemented to manage invalid location inputs and API failures gracefully. User-friendly messages guide users whenever incorrect data is entered. The design prioritizes simplicity, readability, and ease of use. Responsive design techniques ensure compatibility with mobile, tablet, and desktop screens. The project demonstrates effective integration of front-end technologies with external APIs. It enhances practical understanding of web development concepts. The application is scalable and can be extended with additional features like forecasts or unit conversion.</a:t>
            </a:r>
            <a:endParaRPr lang="en-US" sz="1200" dirty="0">
              <a:latin typeface="Times New Roman" pitchFamily="18" charset="0"/>
              <a:cs typeface="Times New Roman" pitchFamily="18" charset="0"/>
            </a:endParaRPr>
          </a:p>
        </p:txBody>
      </p:sp>
      <p:sp>
        <p:nvSpPr>
          <p:cNvPr id="6" name="Slide Number Placeholder 5"/>
          <p:cNvSpPr>
            <a:spLocks noGrp="1"/>
          </p:cNvSpPr>
          <p:nvPr>
            <p:ph type="sldNum" sz="quarter" idx="15"/>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
        <p:nvSpPr>
          <p:cNvPr id="2" name="Title 1"/>
          <p:cNvSpPr>
            <a:spLocks noGrp="1"/>
          </p:cNvSpPr>
          <p:nvPr>
            <p:ph type="title"/>
          </p:nvPr>
        </p:nvSpPr>
        <p:spPr/>
        <p:txBody>
          <a:bodyPr>
            <a:normAutofit/>
          </a:bodyPr>
          <a:lstStyle/>
          <a:p>
            <a:r>
              <a:rPr lang="en-US" sz="4000" dirty="0" smtClean="0">
                <a:solidFill>
                  <a:schemeClr val="tx1"/>
                </a:solidFill>
                <a:latin typeface="Times New Roman" pitchFamily="18" charset="0"/>
                <a:cs typeface="Times New Roman" pitchFamily="18" charset="0"/>
              </a:rPr>
              <a:t>Abstract</a:t>
            </a:r>
            <a:endParaRPr lang="en-US" sz="4000" dirty="0">
              <a:solidFill>
                <a:schemeClr val="tx1"/>
              </a:solidFill>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A1C87E9B-2B25-42B6-C7CE-1D27BF6101DA}"/>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pPr marL="0" lvl="0" indent="0" algn="r" rtl="0">
                <a:spcBef>
                  <a:spcPts val="0"/>
                </a:spcBef>
                <a:spcAft>
                  <a:spcPts val="0"/>
                </a:spcAft>
                <a:buNone/>
              </a:pPr>
              <a:t>4</a:t>
            </a:fld>
            <a:endParaRPr lang="en">
              <a:latin typeface="Times New Roman" panose="02020603050405020304" pitchFamily="18" charset="0"/>
              <a:cs typeface="Times New Roman" panose="02020603050405020304" pitchFamily="18" charset="0"/>
            </a:endParaRPr>
          </a:p>
        </p:txBody>
      </p:sp>
      <p:sp>
        <p:nvSpPr>
          <p:cNvPr id="86" name="Google Shape;86;p15"/>
          <p:cNvSpPr txBox="1">
            <a:spLocks noGrp="1"/>
          </p:cNvSpPr>
          <p:nvPr>
            <p:ph type="title" idx="4294967295"/>
          </p:nvPr>
        </p:nvSpPr>
        <p:spPr>
          <a:xfrm>
            <a:off x="388620" y="204153"/>
            <a:ext cx="5603875" cy="663575"/>
          </a:xfrm>
        </p:spPr>
        <p:txBody>
          <a:bodyPr spcFirstLastPara="1" wrap="square" lIns="91425" tIns="91425" rIns="91425" bIns="91425" anchor="t" anchorCtr="0">
            <a:noAutofit/>
          </a:bodyPr>
          <a:lstStyle/>
          <a:p>
            <a:pPr lvl="0"/>
            <a:r>
              <a:rPr lang="en-IN" sz="4000" dirty="0">
                <a:solidFill>
                  <a:schemeClr val="tx1"/>
                </a:solidFill>
                <a:latin typeface="Times New Roman" pitchFamily="18" charset="0"/>
                <a:cs typeface="Times New Roman" pitchFamily="18" charset="0"/>
              </a:rPr>
              <a:t>Introduction</a:t>
            </a:r>
            <a:r>
              <a:rPr lang="en-IN" sz="4000" dirty="0">
                <a:latin typeface="Times New Roman" pitchFamily="18" charset="0"/>
                <a:cs typeface="Times New Roman" pitchFamily="18" charset="0"/>
              </a:rPr>
              <a:t/>
            </a:r>
            <a:br>
              <a:rPr lang="en-IN" sz="4000" dirty="0">
                <a:latin typeface="Times New Roman" pitchFamily="18" charset="0"/>
                <a:cs typeface="Times New Roman" pitchFamily="18" charset="0"/>
              </a:rPr>
            </a:br>
            <a:r>
              <a:rPr lang="en-IN" sz="4000" dirty="0">
                <a:latin typeface="Times New Roman" pitchFamily="18" charset="0"/>
                <a:cs typeface="Times New Roman" pitchFamily="18" charset="0"/>
              </a:rPr>
              <a:t/>
            </a:r>
            <a:br>
              <a:rPr lang="en-IN" sz="4000" dirty="0">
                <a:latin typeface="Times New Roman" pitchFamily="18" charset="0"/>
                <a:cs typeface="Times New Roman" pitchFamily="18" charset="0"/>
              </a:rPr>
            </a:br>
            <a:endParaRPr lang="en-IN" sz="4000" dirty="0">
              <a:latin typeface="Times New Roman" pitchFamily="18" charset="0"/>
              <a:cs typeface="Times New Roman" pitchFamily="18" charset="0"/>
            </a:endParaRPr>
          </a:p>
        </p:txBody>
      </p:sp>
      <p:sp>
        <p:nvSpPr>
          <p:cNvPr id="18" name="Rectangle 3">
            <a:extLst>
              <a:ext uri="{FF2B5EF4-FFF2-40B4-BE49-F238E27FC236}">
                <a16:creationId xmlns="" xmlns:a16="http://schemas.microsoft.com/office/drawing/2014/main" id="{6183E721-A8F2-74F2-7002-0C329251D840}"/>
              </a:ext>
            </a:extLst>
          </p:cNvPr>
          <p:cNvSpPr txBox="1">
            <a:spLocks noChangeArrowheads="1"/>
          </p:cNvSpPr>
          <p:nvPr/>
        </p:nvSpPr>
        <p:spPr bwMode="auto">
          <a:xfrm>
            <a:off x="353174" y="956826"/>
            <a:ext cx="8485322" cy="338310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algn="just">
              <a:lnSpc>
                <a:spcPct val="150000"/>
              </a:lnSpc>
            </a:pPr>
            <a:r>
              <a:rPr lang="en-US" sz="1200" dirty="0" smtClean="0">
                <a:latin typeface="Times New Roman" pitchFamily="18" charset="0"/>
                <a:cs typeface="Times New Roman" pitchFamily="18" charset="0"/>
              </a:rPr>
              <a:t>Weather information is an essential part of everyday decision-making, influencing activities such as travel, agriculture, outdoor events, and daily planning. With the advancement of web technologies, accessing real-time weather data has become faster and more convenient. A web-based weather application provides users with instant and accurate information without depending on traditional media sources. This project aims to design and develop a user-friendly weather application that allows users to check current weather conditions for any location. The system enables users to enter a city name and retrieve live weather details instantly. The application is built using HTML for structure, CSS for styling, and JavaScript for functionality and interactivity. A public weather API is integrated to fetch real-time data efficiently. The app displays key weather information such as temperature in Celsius, weather description, and visual weather icons. Asynchronous programming techniques are used to ensure smooth data retrieval without page refresh. The interface is designed to be visually appealing and easy to navigate. Responsive design principles are applied to support different screen sizes and devices. Proper error handling is implemented to manage invalid inputs and API failures. Informative messages guide users when incorrect data is entered. The project enhances understanding of API integration and front-end development. It demonstrates real-world use of JavaScript in dynamic web applications. The application is scalable and can be enhanced with additional features. Overall, the project delivers an efficient and interactive weather information system.</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8" name="Slide Number Placeholder 7">
            <a:extLst>
              <a:ext uri="{FF2B5EF4-FFF2-40B4-BE49-F238E27FC236}">
                <a16:creationId xmlns="" xmlns:a16="http://schemas.microsoft.com/office/drawing/2014/main" id="{FDB586D3-DB72-8143-8952-E02333FE6369}"/>
              </a:ext>
            </a:extLst>
          </p:cNvPr>
          <p:cNvSpPr>
            <a:spLocks noGrp="1"/>
          </p:cNvSpPr>
          <p:nvPr>
            <p:ph type="sldNum" sz="quarter" idx="12"/>
          </p:nvPr>
        </p:nvSpPr>
        <p:spPr/>
        <p:txBody>
          <a:bodyPr>
            <a:normAutofit/>
          </a:bodyPr>
          <a:lstStyle/>
          <a:p>
            <a:pPr lvl="0"/>
            <a:fld id="{00000000-1234-1234-1234-123412341234}" type="slidenum">
              <a:rPr lang="en" smtClean="0"/>
              <a:pPr lvl="0"/>
              <a:t>5</a:t>
            </a:fld>
            <a:endParaRPr lang="en"/>
          </a:p>
        </p:txBody>
      </p:sp>
      <p:sp>
        <p:nvSpPr>
          <p:cNvPr id="98" name="Google Shape;98;p17"/>
          <p:cNvSpPr txBox="1">
            <a:spLocks noGrp="1"/>
          </p:cNvSpPr>
          <p:nvPr>
            <p:ph type="title" idx="4294967295"/>
          </p:nvPr>
        </p:nvSpPr>
        <p:spPr>
          <a:xfrm>
            <a:off x="327660" y="311468"/>
            <a:ext cx="6065838" cy="665162"/>
          </a:xfrm>
          <a:prstGeom prst="rect">
            <a:avLst/>
          </a:prstGeom>
        </p:spPr>
        <p:txBody>
          <a:bodyPr spcFirstLastPara="1" wrap="square" lIns="91425" tIns="91425" rIns="91425" bIns="91425" anchor="t" anchorCtr="0">
            <a:noAutofit/>
          </a:bodyPr>
          <a:lstStyle/>
          <a:p>
            <a:pPr lvl="0">
              <a:spcBef>
                <a:spcPts val="0"/>
              </a:spcBef>
              <a:spcAft>
                <a:spcPts val="1600"/>
              </a:spcAft>
            </a:pPr>
            <a:r>
              <a:rPr lang="en-IN" sz="4000" dirty="0" smtClean="0">
                <a:solidFill>
                  <a:schemeClr val="tx1"/>
                </a:solidFill>
                <a:latin typeface="Times New Roman" pitchFamily="18" charset="0"/>
                <a:cs typeface="Times New Roman" pitchFamily="18" charset="0"/>
              </a:rPr>
              <a:t>Proposed</a:t>
            </a:r>
            <a:r>
              <a:rPr lang="en-IN" sz="4000" b="0" dirty="0" smtClean="0">
                <a:solidFill>
                  <a:schemeClr val="tx1"/>
                </a:solidFill>
                <a:latin typeface="Times New Roman" pitchFamily="18" charset="0"/>
                <a:cs typeface="Times New Roman" pitchFamily="18" charset="0"/>
              </a:rPr>
              <a:t> </a:t>
            </a:r>
            <a:r>
              <a:rPr lang="en-IN" sz="4000" dirty="0" smtClean="0">
                <a:solidFill>
                  <a:schemeClr val="tx1"/>
                </a:solidFill>
                <a:latin typeface="Times New Roman" pitchFamily="18" charset="0"/>
                <a:cs typeface="Times New Roman" pitchFamily="18" charset="0"/>
              </a:rPr>
              <a:t>Method</a:t>
            </a:r>
            <a:endParaRPr sz="4000" dirty="0">
              <a:latin typeface="Times New Roman" panose="02020603050405020304" pitchFamily="18" charset="0"/>
              <a:cs typeface="Times New Roman" panose="02020603050405020304" pitchFamily="18" charset="0"/>
            </a:endParaRPr>
          </a:p>
        </p:txBody>
      </p:sp>
      <p:sp>
        <p:nvSpPr>
          <p:cNvPr id="13" name="Rectangle 12"/>
          <p:cNvSpPr/>
          <p:nvPr/>
        </p:nvSpPr>
        <p:spPr>
          <a:xfrm>
            <a:off x="374073" y="1052946"/>
            <a:ext cx="8409710" cy="3106107"/>
          </a:xfrm>
          <a:prstGeom prst="rect">
            <a:avLst/>
          </a:prstGeom>
        </p:spPr>
        <p:txBody>
          <a:bodyPr wrap="square">
            <a:spAutoFit/>
          </a:bodyPr>
          <a:lstStyle/>
          <a:p>
            <a:pPr algn="just">
              <a:lnSpc>
                <a:spcPct val="150000"/>
              </a:lnSpc>
            </a:pPr>
            <a:r>
              <a:rPr lang="en-US" sz="1200" dirty="0" smtClean="0">
                <a:latin typeface="Times New Roman" pitchFamily="18" charset="0"/>
                <a:cs typeface="Times New Roman" pitchFamily="18" charset="0"/>
              </a:rPr>
              <a:t>The </a:t>
            </a:r>
            <a:r>
              <a:rPr lang="en-US" sz="1200" dirty="0" smtClean="0">
                <a:latin typeface="Times New Roman" pitchFamily="18" charset="0"/>
                <a:cs typeface="Times New Roman" pitchFamily="18" charset="0"/>
              </a:rPr>
              <a:t>proposed methodology outlines the systematic approach used to design and develop the web-based weather application. Initially, the requirements of the system are analyzed to identify essential features such as user input, weather data display, and error handling. The application structure is created using HTML to define input fields, buttons, and display sections. CSS is then applied to enhance the visual layout, responsiveness, and overall user experience. JavaScript is used to handle user interactions and application logic. When a user enters a city name and clicks the submit button, an event listener triggers the weather data retrieval process. The application sends an asynchronous request to a public weather API using the Fetch API or </a:t>
            </a:r>
            <a:r>
              <a:rPr lang="en-US" sz="1200" dirty="0" err="1" smtClean="0">
                <a:latin typeface="Times New Roman" pitchFamily="18" charset="0"/>
                <a:cs typeface="Times New Roman" pitchFamily="18" charset="0"/>
              </a:rPr>
              <a:t>async</a:t>
            </a:r>
            <a:r>
              <a:rPr lang="en-US" sz="1200" dirty="0" smtClean="0">
                <a:latin typeface="Times New Roman" pitchFamily="18" charset="0"/>
                <a:cs typeface="Times New Roman" pitchFamily="18" charset="0"/>
              </a:rPr>
              <a:t>/await. The API response is processed and relevant data such as temperature, weather description, and icons are extracted. The extracted information is dynamically displayed on the user interface. Error handling mechanisms are implemented to detect invalid city names or network issues. Appropriate error messages are shown to guide the user. Responsive design techniques ensure compatibility across devices. Input validation improves reliability and usability. Testing is performed to verify accuracy and functionality. The system is optimized for performance and clarity. This methodology ensures a reliable, efficient, and user-friendly weather application.</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8" name="Slide Number Placeholder 7">
            <a:extLst>
              <a:ext uri="{FF2B5EF4-FFF2-40B4-BE49-F238E27FC236}">
                <a16:creationId xmlns="" xmlns:a16="http://schemas.microsoft.com/office/drawing/2014/main" id="{61412B3B-BA4A-8D75-E17B-AA6ABD86B817}"/>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
        <p:nvSpPr>
          <p:cNvPr id="104" name="Google Shape;104;p18"/>
          <p:cNvSpPr txBox="1">
            <a:spLocks noGrp="1"/>
          </p:cNvSpPr>
          <p:nvPr>
            <p:ph type="title" idx="4294967295"/>
          </p:nvPr>
        </p:nvSpPr>
        <p:spPr>
          <a:xfrm>
            <a:off x="0" y="147638"/>
            <a:ext cx="5622925" cy="85725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4000" dirty="0" smtClean="0">
                <a:solidFill>
                  <a:schemeClr val="tx1"/>
                </a:solidFill>
                <a:latin typeface="Times New Roman" panose="02020603050405020304" pitchFamily="18" charset="0"/>
                <a:cs typeface="Times New Roman" panose="02020603050405020304" pitchFamily="18" charset="0"/>
              </a:rPr>
              <a:t>      Flow Diagram</a:t>
            </a:r>
            <a:r>
              <a:rPr lang="en" sz="4000" dirty="0">
                <a:solidFill>
                  <a:schemeClr val="tx1"/>
                </a:solidFill>
                <a:latin typeface="Times New Roman" panose="02020603050405020304" pitchFamily="18" charset="0"/>
                <a:cs typeface="Times New Roman" panose="02020603050405020304" pitchFamily="18" charset="0"/>
              </a:rPr>
              <a:t/>
            </a:r>
            <a:br>
              <a:rPr lang="en" sz="4000" dirty="0">
                <a:solidFill>
                  <a:schemeClr val="tx1"/>
                </a:solidFill>
                <a:latin typeface="Times New Roman" panose="02020603050405020304" pitchFamily="18" charset="0"/>
                <a:cs typeface="Times New Roman" panose="02020603050405020304" pitchFamily="18" charset="0"/>
              </a:rPr>
            </a:br>
            <a:endParaRPr sz="4000" dirty="0">
              <a:solidFill>
                <a:schemeClr val="tx1"/>
              </a:solidFill>
              <a:latin typeface="Times New Roman" panose="02020603050405020304" pitchFamily="18" charset="0"/>
              <a:cs typeface="Times New Roman" panose="02020603050405020304" pitchFamily="18" charset="0"/>
            </a:endParaRPr>
          </a:p>
        </p:txBody>
      </p:sp>
      <p:sp>
        <p:nvSpPr>
          <p:cNvPr id="26626" name="AutoShape 2"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30" name="AutoShape 6"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2" name="AutoShape 2"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 name="Picture 8" descr="Weather app flowchart methodology diagram.png"/>
          <p:cNvPicPr>
            <a:picLocks noChangeAspect="1"/>
          </p:cNvPicPr>
          <p:nvPr/>
        </p:nvPicPr>
        <p:blipFill>
          <a:blip r:embed="rId3"/>
          <a:stretch>
            <a:fillRect/>
          </a:stretch>
        </p:blipFill>
        <p:spPr>
          <a:xfrm>
            <a:off x="1470660" y="1108710"/>
            <a:ext cx="5897880" cy="3585210"/>
          </a:xfrm>
          <a:prstGeom prst="rect">
            <a:avLst/>
          </a:prstGeom>
        </p:spPr>
      </p:pic>
    </p:spTree>
    <p:extLst>
      <p:ext uri="{BB962C8B-B14F-4D97-AF65-F5344CB8AC3E}">
        <p14:creationId xmlns="" xmlns:p14="http://schemas.microsoft.com/office/powerpoint/2010/main" val="3579517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endParaRPr lang="en"/>
          </a:p>
        </p:txBody>
      </p:sp>
      <p:sp>
        <p:nvSpPr>
          <p:cNvPr id="5" name="Rectangle 4"/>
          <p:cNvSpPr/>
          <p:nvPr/>
        </p:nvSpPr>
        <p:spPr>
          <a:xfrm>
            <a:off x="893617" y="343538"/>
            <a:ext cx="3519055" cy="707886"/>
          </a:xfrm>
          <a:prstGeom prst="rect">
            <a:avLst/>
          </a:prstGeom>
        </p:spPr>
        <p:txBody>
          <a:bodyPr wrap="square">
            <a:spAutoFit/>
          </a:bodyPr>
          <a:lstStyle/>
          <a:p>
            <a:r>
              <a:rPr lang="en-IN" sz="4000" b="1" dirty="0" smtClean="0">
                <a:latin typeface="Times New Roman" pitchFamily="18" charset="0"/>
                <a:cs typeface="Times New Roman" pitchFamily="18" charset="0"/>
              </a:rPr>
              <a:t>Tools Used </a:t>
            </a:r>
            <a:endParaRPr lang="en-US" sz="4000" b="1" dirty="0"/>
          </a:p>
        </p:txBody>
      </p:sp>
      <p:sp>
        <p:nvSpPr>
          <p:cNvPr id="10" name="TextBox 9"/>
          <p:cNvSpPr txBox="1"/>
          <p:nvPr/>
        </p:nvSpPr>
        <p:spPr>
          <a:xfrm>
            <a:off x="1018309" y="914400"/>
            <a:ext cx="3906982" cy="4108817"/>
          </a:xfrm>
          <a:prstGeom prst="rect">
            <a:avLst/>
          </a:prstGeom>
          <a:noFill/>
        </p:spPr>
        <p:txBody>
          <a:bodyPr wrap="square" rtlCol="0">
            <a:spAutoFit/>
          </a:bodyPr>
          <a:lstStyle/>
          <a:p>
            <a:pPr>
              <a:lnSpc>
                <a:spcPct val="150000"/>
              </a:lnSpc>
            </a:pPr>
            <a:r>
              <a:rPr lang="en-US" sz="2000" b="1" dirty="0" smtClean="0">
                <a:latin typeface="Times New Roman" pitchFamily="18" charset="0"/>
                <a:cs typeface="Times New Roman" pitchFamily="18" charset="0"/>
              </a:rPr>
              <a:t>Software Tools</a:t>
            </a:r>
          </a:p>
          <a:p>
            <a:pPr>
              <a:lnSpc>
                <a:spcPct val="150000"/>
              </a:lnSpc>
            </a:pPr>
            <a:r>
              <a:rPr lang="en-US" sz="1400" b="1" dirty="0" smtClean="0">
                <a:latin typeface="Times New Roman" pitchFamily="18" charset="0"/>
                <a:cs typeface="Times New Roman" pitchFamily="18" charset="0"/>
              </a:rPr>
              <a:t>Programming Languages: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HTML, CSS, JavaScript</a:t>
            </a:r>
          </a:p>
          <a:p>
            <a:pPr>
              <a:lnSpc>
                <a:spcPct val="150000"/>
              </a:lnSpc>
            </a:pPr>
            <a:r>
              <a:rPr lang="en-US" sz="1400" b="1" dirty="0" smtClean="0">
                <a:latin typeface="Times New Roman" pitchFamily="18" charset="0"/>
                <a:cs typeface="Times New Roman" pitchFamily="18" charset="0"/>
              </a:rPr>
              <a:t>Backend &amp; Database:</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Firebase Authentication, Firebase </a:t>
            </a:r>
            <a:r>
              <a:rPr lang="en-US" sz="1400" dirty="0" err="1" smtClean="0">
                <a:latin typeface="Times New Roman" pitchFamily="18" charset="0"/>
                <a:cs typeface="Times New Roman" pitchFamily="18" charset="0"/>
              </a:rPr>
              <a:t>Firestore</a:t>
            </a:r>
            <a:endParaRPr lang="en-US" sz="1400" dirty="0" smtClean="0">
              <a:latin typeface="Times New Roman" pitchFamily="18" charset="0"/>
              <a:cs typeface="Times New Roman" pitchFamily="18" charset="0"/>
            </a:endParaRPr>
          </a:p>
          <a:p>
            <a:pPr>
              <a:lnSpc>
                <a:spcPct val="150000"/>
              </a:lnSpc>
            </a:pPr>
            <a:r>
              <a:rPr lang="en-US" sz="1400" b="1" dirty="0" smtClean="0">
                <a:latin typeface="Times New Roman" pitchFamily="18" charset="0"/>
                <a:cs typeface="Times New Roman" pitchFamily="18" charset="0"/>
              </a:rPr>
              <a:t>Development Tools: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Visual Studio Code, Web Browser (Chrome/Firefox)</a:t>
            </a:r>
          </a:p>
          <a:p>
            <a:pPr>
              <a:lnSpc>
                <a:spcPct val="150000"/>
              </a:lnSpc>
            </a:pPr>
            <a:r>
              <a:rPr lang="en-US" sz="1400" b="1" dirty="0" smtClean="0">
                <a:latin typeface="Times New Roman" pitchFamily="18" charset="0"/>
                <a:cs typeface="Times New Roman" pitchFamily="18" charset="0"/>
              </a:rPr>
              <a:t>Version Control:</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err="1" smtClean="0">
                <a:latin typeface="Times New Roman" pitchFamily="18" charset="0"/>
                <a:cs typeface="Times New Roman" pitchFamily="18" charset="0"/>
              </a:rPr>
              <a:t>GitHub</a:t>
            </a:r>
            <a:endParaRPr lang="en-US" sz="1400" dirty="0" smtClean="0">
              <a:latin typeface="Times New Roman" pitchFamily="18" charset="0"/>
              <a:cs typeface="Times New Roman" pitchFamily="18" charset="0"/>
            </a:endParaRPr>
          </a:p>
          <a:p>
            <a:pPr>
              <a:lnSpc>
                <a:spcPct val="150000"/>
              </a:lnSpc>
            </a:pPr>
            <a:r>
              <a:rPr lang="en-US" sz="1400" b="1" dirty="0" smtClean="0">
                <a:latin typeface="Times New Roman" pitchFamily="18" charset="0"/>
                <a:cs typeface="Times New Roman" pitchFamily="18" charset="0"/>
              </a:rPr>
              <a:t>Operating System:</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Windows / Linux</a:t>
            </a:r>
            <a:endParaRPr lang="en-US" sz="1400" dirty="0">
              <a:latin typeface="Times New Roman" pitchFamily="18" charset="0"/>
              <a:cs typeface="Times New Roman" pitchFamily="18" charset="0"/>
            </a:endParaRPr>
          </a:p>
        </p:txBody>
      </p:sp>
      <p:sp>
        <p:nvSpPr>
          <p:cNvPr id="11" name="TextBox 10"/>
          <p:cNvSpPr txBox="1"/>
          <p:nvPr/>
        </p:nvSpPr>
        <p:spPr>
          <a:xfrm>
            <a:off x="5174673" y="1101436"/>
            <a:ext cx="2541530" cy="1800493"/>
          </a:xfrm>
          <a:prstGeom prst="rect">
            <a:avLst/>
          </a:prstGeom>
          <a:noFill/>
        </p:spPr>
        <p:txBody>
          <a:bodyPr wrap="square" rtlCol="0">
            <a:spAutoFit/>
          </a:bodyPr>
          <a:lstStyle/>
          <a:p>
            <a:pPr>
              <a:lnSpc>
                <a:spcPct val="150000"/>
              </a:lnSpc>
            </a:pPr>
            <a:r>
              <a:rPr lang="en-US" sz="2000" b="1" dirty="0" smtClean="0">
                <a:latin typeface="Times New Roman" pitchFamily="18" charset="0"/>
                <a:cs typeface="Times New Roman" pitchFamily="18" charset="0"/>
              </a:rPr>
              <a:t>Hardware Tools</a:t>
            </a:r>
          </a:p>
          <a:p>
            <a:pPr>
              <a:lnSpc>
                <a:spcPct val="150000"/>
              </a:lnSpc>
            </a:pPr>
            <a:r>
              <a:rPr lang="en-US" sz="1400" dirty="0" smtClean="0">
                <a:latin typeface="Times New Roman" pitchFamily="18" charset="0"/>
                <a:cs typeface="Times New Roman" pitchFamily="18" charset="0"/>
              </a:rPr>
              <a:t>Processor: AMD </a:t>
            </a:r>
            <a:r>
              <a:rPr lang="en-US" sz="1400" dirty="0" err="1" smtClean="0">
                <a:latin typeface="Times New Roman" pitchFamily="18" charset="0"/>
                <a:cs typeface="Times New Roman" pitchFamily="18" charset="0"/>
              </a:rPr>
              <a:t>Ryzen</a:t>
            </a:r>
            <a:r>
              <a:rPr lang="en-US" sz="1400" dirty="0" smtClean="0">
                <a:latin typeface="Times New Roman" pitchFamily="18" charset="0"/>
                <a:cs typeface="Times New Roman" pitchFamily="18" charset="0"/>
              </a:rPr>
              <a:t> 5</a:t>
            </a:r>
          </a:p>
          <a:p>
            <a:pPr>
              <a:lnSpc>
                <a:spcPct val="150000"/>
              </a:lnSpc>
            </a:pPr>
            <a:r>
              <a:rPr lang="en-US" sz="1400" dirty="0" smtClean="0">
                <a:latin typeface="Times New Roman" pitchFamily="18" charset="0"/>
                <a:cs typeface="Times New Roman" pitchFamily="18" charset="0"/>
              </a:rPr>
              <a:t> RAM: 8GB </a:t>
            </a:r>
          </a:p>
          <a:p>
            <a:pPr>
              <a:lnSpc>
                <a:spcPct val="150000"/>
              </a:lnSpc>
            </a:pPr>
            <a:r>
              <a:rPr lang="en-US" sz="1400" dirty="0" smtClean="0">
                <a:latin typeface="Times New Roman" pitchFamily="18" charset="0"/>
                <a:cs typeface="Times New Roman" pitchFamily="18" charset="0"/>
              </a:rPr>
              <a:t>Storage: 477GB </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endParaRPr lang="en"/>
          </a:p>
        </p:txBody>
      </p:sp>
      <p:sp>
        <p:nvSpPr>
          <p:cNvPr id="5" name="Rectangle 4"/>
          <p:cNvSpPr/>
          <p:nvPr/>
        </p:nvSpPr>
        <p:spPr>
          <a:xfrm>
            <a:off x="602672" y="489010"/>
            <a:ext cx="4994564" cy="707886"/>
          </a:xfrm>
          <a:prstGeom prst="rect">
            <a:avLst/>
          </a:prstGeom>
        </p:spPr>
        <p:txBody>
          <a:bodyPr wrap="square">
            <a:spAutoFit/>
          </a:bodyPr>
          <a:lstStyle/>
          <a:p>
            <a:r>
              <a:rPr lang="en-IN" sz="4000" b="1" dirty="0" smtClean="0">
                <a:latin typeface="Times New Roman" pitchFamily="18" charset="0"/>
                <a:cs typeface="Times New Roman" pitchFamily="18" charset="0"/>
              </a:rPr>
              <a:t>Expected Output</a:t>
            </a:r>
            <a:endParaRPr lang="en-US" sz="4000" b="1" dirty="0"/>
          </a:p>
        </p:txBody>
      </p:sp>
      <p:sp>
        <p:nvSpPr>
          <p:cNvPr id="6" name="Rectangle 5"/>
          <p:cNvSpPr/>
          <p:nvPr/>
        </p:nvSpPr>
        <p:spPr>
          <a:xfrm>
            <a:off x="554181" y="1253835"/>
            <a:ext cx="7890163" cy="3285323"/>
          </a:xfrm>
          <a:prstGeom prst="rect">
            <a:avLst/>
          </a:prstGeom>
        </p:spPr>
        <p:txBody>
          <a:bodyPr wrap="square">
            <a:spAutoFit/>
          </a:bodyPr>
          <a:lstStyle/>
          <a:p>
            <a:pPr algn="just">
              <a:lnSpc>
                <a:spcPct val="150000"/>
              </a:lnSpc>
            </a:pPr>
            <a:r>
              <a:rPr lang="en-US" sz="1400" dirty="0" smtClean="0">
                <a:latin typeface="Times New Roman" pitchFamily="18" charset="0"/>
                <a:cs typeface="Times New Roman" pitchFamily="18" charset="0"/>
              </a:rPr>
              <a:t>The expected output of the weather application is a responsive and user-friendly web interface that displays real-time weather information based on user input. When the user enters a valid city name and clicks the submit button, the application successfully retrieves weather data from the public weather API. The system displays the current temperature in Celsius along with a clear weather description. A corresponding weather icon is shown to visually represent the current weather condition. The application updates the results dynamically without reloading the page. If an invalid location is entered, an appropriate error message is displayed. Network or API-related issues are handled gracefully with informative alerts. The interface remains clean and easy to understand. The application adapts smoothly to different screen sizes and devices. Loading delays are minimal due to asynchronous data handling. The displayed data is accurate and up to date. User interaction is smooth and intuitive.</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525132" y="1206501"/>
            <a:ext cx="7103135" cy="3403600"/>
          </a:xfrm>
          <a:prstGeom prst="rect">
            <a:avLst/>
          </a:prstGeom>
          <a:noFill/>
          <a:ln w="9525">
            <a:noFill/>
            <a:miter lim="800000"/>
            <a:headEnd/>
            <a:tailEnd/>
          </a:ln>
          <a:effectLst/>
        </p:spPr>
      </p:pic>
      <p:sp>
        <p:nvSpPr>
          <p:cNvPr id="6" name="Slide Number Placeholder 5"/>
          <p:cNvSpPr>
            <a:spLocks noGrp="1"/>
          </p:cNvSpPr>
          <p:nvPr>
            <p:ph type="sldNum" sz="quarter" idx="15"/>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endParaRPr lang="en"/>
          </a:p>
        </p:txBody>
      </p:sp>
      <p:sp>
        <p:nvSpPr>
          <p:cNvPr id="2" name="Title 1"/>
          <p:cNvSpPr>
            <a:spLocks noGrp="1"/>
          </p:cNvSpPr>
          <p:nvPr>
            <p:ph type="title"/>
          </p:nvPr>
        </p:nvSpPr>
        <p:spPr>
          <a:xfrm>
            <a:off x="519545" y="363266"/>
            <a:ext cx="7772400" cy="685800"/>
          </a:xfrm>
        </p:spPr>
        <p:txBody>
          <a:bodyPr>
            <a:normAutofit fontScale="90000"/>
          </a:bodyPr>
          <a:lstStyle/>
          <a:p>
            <a:r>
              <a:rPr lang="en-US" sz="4000" dirty="0" smtClean="0">
                <a:solidFill>
                  <a:schemeClr val="tx1"/>
                </a:solidFill>
                <a:latin typeface="Times New Roman" pitchFamily="18" charset="0"/>
                <a:cs typeface="Times New Roman" pitchFamily="18" charset="0"/>
              </a:rPr>
              <a:t>Output Screenshots</a:t>
            </a:r>
            <a:endParaRPr lang="en-US" sz="4000" dirty="0">
              <a:solidFill>
                <a:schemeClr val="tx1"/>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noChangeArrowheads="1"/>
          </p:cNvPicPr>
          <p:nvPr>
            <p:ph idx="1"/>
          </p:nvPr>
        </p:nvPicPr>
        <p:blipFill>
          <a:blip r:embed="rId2"/>
          <a:srcRect/>
          <a:stretch>
            <a:fillRect/>
          </a:stretch>
        </p:blipFill>
        <p:spPr bwMode="auto">
          <a:xfrm>
            <a:off x="481337" y="1206501"/>
            <a:ext cx="7190726" cy="3167380"/>
          </a:xfrm>
          <a:prstGeom prst="rect">
            <a:avLst/>
          </a:prstGeom>
          <a:noFill/>
          <a:ln w="9525">
            <a:noFill/>
            <a:miter lim="800000"/>
            <a:headEnd/>
            <a:tailEnd/>
          </a:ln>
          <a:effectLst/>
        </p:spPr>
      </p:pic>
      <p:sp>
        <p:nvSpPr>
          <p:cNvPr id="6" name="Slide Number Placeholder 5"/>
          <p:cNvSpPr>
            <a:spLocks noGrp="1"/>
          </p:cNvSpPr>
          <p:nvPr>
            <p:ph type="sldNum" sz="quarter" idx="15"/>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
        <p:nvSpPr>
          <p:cNvPr id="2" name="Title 1"/>
          <p:cNvSpPr>
            <a:spLocks noGrp="1"/>
          </p:cNvSpPr>
          <p:nvPr>
            <p:ph type="title"/>
          </p:nvPr>
        </p:nvSpPr>
        <p:spPr/>
        <p:txBody>
          <a:bodyPr>
            <a:normAutofit/>
          </a:bodyPr>
          <a:lstStyle/>
          <a:p>
            <a:r>
              <a:rPr lang="en-US" sz="4000" dirty="0" smtClean="0">
                <a:solidFill>
                  <a:schemeClr val="tx1"/>
                </a:solidFill>
                <a:latin typeface="Times New Roman" pitchFamily="18" charset="0"/>
                <a:cs typeface="Times New Roman" pitchFamily="18" charset="0"/>
              </a:rPr>
              <a:t>Output Screenshot</a:t>
            </a:r>
            <a:endParaRPr lang="en-US" sz="4000" dirty="0">
              <a:solidFill>
                <a:schemeClr val="tx1"/>
              </a:solidFill>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8" name="Slide Number Placeholder 7">
            <a:extLst>
              <a:ext uri="{FF2B5EF4-FFF2-40B4-BE49-F238E27FC236}">
                <a16:creationId xmlns="" xmlns:a16="http://schemas.microsoft.com/office/drawing/2014/main" id="{6457A543-5E9B-F838-4E4C-30AD8342F661}"/>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sp>
        <p:nvSpPr>
          <p:cNvPr id="110" name="Google Shape;110;p19"/>
          <p:cNvSpPr txBox="1">
            <a:spLocks noGrp="1"/>
          </p:cNvSpPr>
          <p:nvPr>
            <p:ph type="title" idx="4294967295"/>
          </p:nvPr>
        </p:nvSpPr>
        <p:spPr>
          <a:xfrm>
            <a:off x="419100" y="292100"/>
            <a:ext cx="4008438" cy="830263"/>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4000" dirty="0" smtClean="0">
                <a:solidFill>
                  <a:schemeClr val="tx1"/>
                </a:solidFill>
                <a:latin typeface="Times New Roman" panose="02020603050405020304" pitchFamily="18" charset="0"/>
                <a:cs typeface="Times New Roman" panose="02020603050405020304" pitchFamily="18" charset="0"/>
              </a:rPr>
              <a:t>Conclusion</a:t>
            </a:r>
            <a:endParaRPr sz="40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547255" y="1184564"/>
            <a:ext cx="7994072" cy="3608488"/>
          </a:xfrm>
          <a:prstGeom prst="rect">
            <a:avLst/>
          </a:prstGeom>
        </p:spPr>
        <p:txBody>
          <a:bodyPr wrap="square">
            <a:spAutoFit/>
          </a:bodyPr>
          <a:lstStyle/>
          <a:p>
            <a:pPr algn="just">
              <a:lnSpc>
                <a:spcPct val="150000"/>
              </a:lnSpc>
            </a:pPr>
            <a:r>
              <a:rPr lang="en-US" sz="1400" dirty="0" smtClean="0">
                <a:latin typeface="Times New Roman" pitchFamily="18" charset="0"/>
                <a:cs typeface="Times New Roman" pitchFamily="18" charset="0"/>
              </a:rPr>
              <a:t>The weather application project successfully demonstrates the development of a real-time web-based system using modern front-end technologies. By integrating HTML, CSS, and JavaScript, the application provides a smooth and interactive user experience. The use of a public weather API ensures accurate and up-to-date weather information for user-specified locations. The application effectively displays temperature, weather conditions, and visual icons in a clear format. Error handling mechanisms improve reliability by managing invalid inputs and network issues gracefully. Responsive design techniques allow the application to function efficiently across different devices and screen sizes. Asynchronous data fetching enhances performance and reduces loading time. The project strengthens practical knowledge of API integration and client-side scripting. It follows clean coding practices and structured design principles. The application is easy to use and visually appealing. It meets all specified project requirements successfully. The system is scalable and can be enhanced with additional features.</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endParaRPr lang="en"/>
          </a:p>
        </p:txBody>
      </p:sp>
      <p:sp>
        <p:nvSpPr>
          <p:cNvPr id="5" name="TextBox 4"/>
          <p:cNvSpPr txBox="1"/>
          <p:nvPr/>
        </p:nvSpPr>
        <p:spPr>
          <a:xfrm>
            <a:off x="2410691" y="1821872"/>
            <a:ext cx="4024545" cy="707886"/>
          </a:xfrm>
          <a:prstGeom prst="rect">
            <a:avLst/>
          </a:prstGeom>
          <a:noFill/>
        </p:spPr>
        <p:txBody>
          <a:bodyPr wrap="square" rtlCol="0">
            <a:spAutoFit/>
          </a:bodyPr>
          <a:lstStyle/>
          <a:p>
            <a:pPr algn="ctr"/>
            <a:r>
              <a:rPr lang="en-IN" sz="4000" b="1" dirty="0" smtClean="0">
                <a:latin typeface="Times New Roman" pitchFamily="18" charset="0"/>
                <a:cs typeface="Times New Roman" pitchFamily="18" charset="0"/>
              </a:rPr>
              <a:t>THANK  YOU</a:t>
            </a:r>
            <a:endParaRPr lang="en-US" sz="4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2074</TotalTime>
  <Words>1116</Words>
  <Application>Microsoft Office PowerPoint</Application>
  <PresentationFormat>On-screen Show (16:9)</PresentationFormat>
  <Paragraphs>50</Paragraphs>
  <Slides>12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Times New Roman</vt:lpstr>
      <vt:lpstr>Raleway Medium</vt:lpstr>
      <vt:lpstr>Constantia</vt:lpstr>
      <vt:lpstr>Wingdings 2</vt:lpstr>
      <vt:lpstr>Paper</vt:lpstr>
      <vt:lpstr>Slide 1</vt:lpstr>
      <vt:lpstr>Slide 2</vt:lpstr>
      <vt:lpstr>Abstract</vt:lpstr>
      <vt:lpstr>Introduction  </vt:lpstr>
      <vt:lpstr>Proposed Method</vt:lpstr>
      <vt:lpstr>      Flow Diagram </vt:lpstr>
      <vt:lpstr>Slide 7</vt:lpstr>
      <vt:lpstr>Slide 8</vt:lpstr>
      <vt:lpstr>Output Screenshots</vt:lpstr>
      <vt:lpstr>Output Screenshot</vt:lpstr>
      <vt:lpstr>Conclusion</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prediction and classification: A deep learning approach with Bi-LSTM and Social Media Analytics</dc:title>
  <dc:creator>gowri ramasamy</dc:creator>
  <cp:lastModifiedBy>gowri ramasamy</cp:lastModifiedBy>
  <cp:revision>103</cp:revision>
  <dcterms:modified xsi:type="dcterms:W3CDTF">2026-02-10T16:46:52Z</dcterms:modified>
</cp:coreProperties>
</file>